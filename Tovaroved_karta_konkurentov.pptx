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bsgroup.ru/ai/com/ii-agent-normalizator-nsi/" TargetMode="External"/><Relationship Id="rId3" Type="http://schemas.openxmlformats.org/officeDocument/2006/relationships/hyperlink" Target="https://infostart.ru/marketplace/2667216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elsup.ru/" TargetMode="External"/><Relationship Id="rId3" Type="http://schemas.openxmlformats.org/officeDocument/2006/relationships/hyperlink" Target="https://brandquad.ru/products/pim-systema/" TargetMode="External"/><Relationship Id="rId4" Type="http://schemas.openxmlformats.org/officeDocument/2006/relationships/hyperlink" Target="https://www.compo.ru/products/pim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istex.info/" TargetMode="External"/><Relationship Id="rId3" Type="http://schemas.openxmlformats.org/officeDocument/2006/relationships/hyperlink" Target="https://astorsoft.ru/products/rs-shelfspace/" TargetMode="External"/><Relationship Id="rId4" Type="http://schemas.openxmlformats.org/officeDocument/2006/relationships/hyperlink" Target="https://abmcloud.com/abm-soft/abm-shelf/" TargetMode="External"/><Relationship Id="rId5" Type="http://schemas.openxmlformats.org/officeDocument/2006/relationships/hyperlink" Target="https://planohero.com/ru/create-planograms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5E6F64"/>
                </a:solidFill>
                <a:latin typeface="Calibri"/>
              </a:rPr>
              <a:t>КОНКУРЕНТНАЯ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2B3642"/>
                </a:solidFill>
                <a:latin typeface="Calibri"/>
              </a:rPr>
              <a:t>Три группы рядом с Товароведом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>
                <a:solidFill>
                  <a:srgbClr val="5C6772"/>
                </a:solidFill>
                <a:latin typeface="Calibri"/>
              </a:rPr>
              <a:t>Не «кто ещё пишет карточки», а кто пересекается по методу, словам или результату на полке.</a:t>
            </a:r>
          </a:p>
        </p:txBody>
      </p:sp>
      <p:sp>
        <p:nvSpPr>
          <p:cNvPr id="6" name="Oval 5"/>
          <p:cNvSpPr/>
          <p:nvPr/>
        </p:nvSpPr>
        <p:spPr>
          <a:xfrm>
            <a:off x="5623560" y="2880360"/>
            <a:ext cx="960120" cy="960120"/>
          </a:xfrm>
          <a:prstGeom prst="ellipse">
            <a:avLst/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ТВ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3858768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i="0">
                <a:solidFill>
                  <a:srgbClr val="3A5466"/>
                </a:solidFill>
                <a:latin typeface="Calibri"/>
              </a:rPr>
              <a:t>Товаровед → SP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26280"/>
            <a:ext cx="3520440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4526280"/>
            <a:ext cx="91440" cy="1938528"/>
          </a:xfrm>
          <a:prstGeom prst="rect">
            <a:avLst/>
          </a:prstGeom>
          <a:solidFill>
            <a:srgbClr val="5E6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654296"/>
            <a:ext cx="3108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5E6F64"/>
                </a:solidFill>
                <a:latin typeface="Calibri"/>
              </a:rPr>
              <a:t>Группа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910328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i="0">
                <a:solidFill>
                  <a:srgbClr val="2B3642"/>
                </a:solidFill>
                <a:latin typeface="Calibri"/>
              </a:rPr>
              <a:t>Похожий метод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5239512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C6772"/>
                </a:solidFill>
                <a:latin typeface="Calibri"/>
              </a:rPr>
              <a:t>Патчи 1С: нормализация НСИ
и веб-заполнение полей.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59436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2B3642"/>
                </a:solidFill>
                <a:latin typeface="Calibri"/>
              </a:rPr>
              <a:t>Клиенты SP это не пробовали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4526280"/>
            <a:ext cx="3520440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60520" y="4526280"/>
            <a:ext cx="91440" cy="1938528"/>
          </a:xfrm>
          <a:prstGeom prst="rect">
            <a:avLst/>
          </a:prstGeom>
          <a:solidFill>
            <a:srgbClr val="8A7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4654296"/>
            <a:ext cx="3108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8A7358"/>
                </a:solidFill>
                <a:latin typeface="Calibri"/>
              </a:rPr>
              <a:t>Группа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4910328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i="0">
                <a:solidFill>
                  <a:srgbClr val="2B3642"/>
                </a:solidFill>
                <a:latin typeface="Calibri"/>
              </a:rPr>
              <a:t>Похожие слова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5239512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C6772"/>
                </a:solidFill>
                <a:latin typeface="Calibri"/>
              </a:rPr>
              <a:t>PIM / маркетплейсы.
«Полка» — digital shelf, не планограмма.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59436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2B3642"/>
                </a:solidFill>
                <a:latin typeface="Calibri"/>
              </a:rPr>
              <a:t>Не оппонент в сделках SP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4526280"/>
            <a:ext cx="3520440" cy="1938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63840" y="4526280"/>
            <a:ext cx="91440" cy="1938528"/>
          </a:xfrm>
          <a:prstGeom prst="rect">
            <a:avLst/>
          </a:prstGeom>
          <a:solidFill>
            <a:srgbClr val="8B5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19872" y="4654296"/>
            <a:ext cx="3108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8B5A4A"/>
                </a:solidFill>
                <a:latin typeface="Calibri"/>
              </a:rPr>
              <a:t>Группа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19872" y="4910328"/>
            <a:ext cx="3108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i="0">
                <a:solidFill>
                  <a:srgbClr val="2B3642"/>
                </a:solidFill>
                <a:latin typeface="Calibri"/>
              </a:rPr>
              <a:t>Тот же результат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19872" y="5239512"/>
            <a:ext cx="310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C6772"/>
                </a:solidFill>
                <a:latin typeface="Calibri"/>
              </a:rPr>
              <a:t>Габариты и фото для выкладки.
Другой путь: лаборатория или свой планограммер.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59436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2B3642"/>
                </a:solidFill>
                <a:latin typeface="Calibri"/>
              </a:rPr>
              <a:t>Не «прямой ИИ-агент»</a:t>
            </a:r>
          </a:p>
        </p:txBody>
      </p:sp>
      <p:sp>
        <p:nvSpPr>
          <p:cNvPr id="26" name="Oval 25"/>
          <p:cNvSpPr/>
          <p:nvPr/>
        </p:nvSpPr>
        <p:spPr>
          <a:xfrm>
            <a:off x="1234440" y="1965960"/>
            <a:ext cx="219456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E6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5E6F64"/>
                </a:solidFill>
                <a:latin typeface="Calibri"/>
              </a:rPr>
              <a:t>01  метод</a:t>
            </a:r>
          </a:p>
        </p:txBody>
      </p:sp>
      <p:sp>
        <p:nvSpPr>
          <p:cNvPr id="27" name="Oval 26"/>
          <p:cNvSpPr/>
          <p:nvPr/>
        </p:nvSpPr>
        <p:spPr>
          <a:xfrm>
            <a:off x="8732520" y="1965960"/>
            <a:ext cx="219456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A73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8A7358"/>
                </a:solidFill>
                <a:latin typeface="Calibri"/>
              </a:rPr>
              <a:t>02  слова</a:t>
            </a:r>
          </a:p>
        </p:txBody>
      </p:sp>
      <p:sp>
        <p:nvSpPr>
          <p:cNvPr id="28" name="Oval 27"/>
          <p:cNvSpPr/>
          <p:nvPr/>
        </p:nvSpPr>
        <p:spPr>
          <a:xfrm>
            <a:off x="4983480" y="1965960"/>
            <a:ext cx="219456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8B5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8B5A4A"/>
                </a:solidFill>
                <a:latin typeface="Calibri"/>
              </a:rPr>
              <a:t>03  результат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656832"/>
            <a:ext cx="9144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FFFFFF"/>
                </a:solidFill>
                <a:latin typeface="Calibri"/>
              </a:rPr>
              <a:t>Ласмарт  ·  Товаровед  ·  карта конкурентов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656832"/>
            <a:ext cx="11887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5E6F64"/>
                </a:solidFill>
                <a:latin typeface="Calibri"/>
              </a:rPr>
              <a:t>ГРУППА 01  ·  ПОХОЖИЙ 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2B3642"/>
                </a:solidFill>
                <a:latin typeface="Calibri"/>
              </a:rPr>
              <a:t>Патчи 1С: заполняют карточку, не полку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>
                <a:solidFill>
                  <a:srgbClr val="5C6772"/>
                </a:solidFill>
                <a:latin typeface="Calibri"/>
              </a:rPr>
              <a:t>Жест похож: взять данные снаружи и дописать карточку. Результат остаётся в 1С, не в Space Planner.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406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40680" cy="73152"/>
          </a:xfrm>
          <a:prstGeom prst="rect">
            <a:avLst/>
          </a:prstGeom>
          <a:solidFill>
            <a:srgbClr val="5E6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72768"/>
            <a:ext cx="4754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5E6F64"/>
                </a:solidFill>
                <a:latin typeface="Calibri"/>
              </a:rPr>
              <a:t>НСИ, НЕ ГАБАРИТЫ С ПОЛКИ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>
                <a:solidFill>
                  <a:srgbClr val="2B3642"/>
                </a:solidFill>
                <a:latin typeface="Calibri"/>
              </a:rPr>
              <a:t>MBS Нормализатор НСИ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1284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5C6772"/>
                </a:solidFill>
                <a:latin typeface="Calibri"/>
              </a:rPr>
              <a:t>Дубли, названия, классификация. Веб-габариты единицы выкладки не собирает.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88920"/>
            <a:ext cx="1325880" cy="347472"/>
          </a:xfrm>
          <a:prstGeom prst="roundRect">
            <a:avLst>
              <a:gd name="adj" fmla="val 20000"/>
            </a:avLst>
          </a:prstGeom>
          <a:solidFill>
            <a:srgbClr val="5E6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2788920"/>
            <a:ext cx="1325880" cy="347472"/>
          </a:xfrm>
          <a:prstGeom prst="roundRect">
            <a:avLst>
              <a:gd name="adj" fmla="val 20000"/>
            </a:avLst>
          </a:prstGeom>
          <a:solidFill>
            <a:srgbClr val="5E6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агент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4760" y="2788920"/>
            <a:ext cx="1325880" cy="347472"/>
          </a:xfrm>
          <a:prstGeom prst="roundRect">
            <a:avLst>
              <a:gd name="adj" fmla="val 20000"/>
            </a:avLst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4612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8B5A4A"/>
                </a:solidFill>
                <a:latin typeface="Calibri"/>
              </a:rPr>
              <a:t>выхода в Space Planner нет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1188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2B3642"/>
                </a:solidFill>
                <a:latin typeface="Calibri"/>
              </a:rPr>
              <a:t>▸  метод: нормализация справочника в 1С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2B3642"/>
                </a:solidFill>
                <a:latin typeface="Calibri"/>
              </a:rPr>
              <a:t>▸  не facing WxHxD, не фото для планограммы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29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sng">
                <a:solidFill>
                  <a:srgbClr val="4A6B7C"/>
                </a:solidFill>
                <a:latin typeface="Calibri"/>
                <a:hlinkClick r:id="rId2"/>
              </a:rPr>
              <a:t>https://mbsgroup.ru/ai/com/ii-agent-normalizator-nsi/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371600"/>
            <a:ext cx="54406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371600"/>
            <a:ext cx="5440680" cy="73152"/>
          </a:xfrm>
          <a:prstGeom prst="rect">
            <a:avLst/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572768"/>
            <a:ext cx="4754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3A5466"/>
                </a:solidFill>
                <a:latin typeface="Calibri"/>
              </a:rPr>
              <a:t>БЛИЖАЙШИЙ ЖЕСТ ЗАПОЛНЕНИЯ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182880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>
                <a:solidFill>
                  <a:srgbClr val="2B3642"/>
                </a:solidFill>
                <a:latin typeface="Calibri"/>
              </a:rPr>
              <a:t>Infostart «Оперативное заполнение»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21284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5C6772"/>
                </a:solidFill>
                <a:latin typeface="Calibri"/>
              </a:rPr>
              <a:t>Веб → описание, фото, вес/объём/длина/площадь в 1С. Не единица выкладки.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2788920"/>
            <a:ext cx="1325880" cy="347472"/>
          </a:xfrm>
          <a:prstGeom prst="roundRect">
            <a:avLst>
              <a:gd name="adj" fmla="val 20000"/>
            </a:avLst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2788920"/>
            <a:ext cx="1325880" cy="347472"/>
          </a:xfrm>
          <a:prstGeom prst="roundRect">
            <a:avLst>
              <a:gd name="adj" fmla="val 20000"/>
            </a:avLst>
          </a:prstGeom>
          <a:solidFill>
            <a:srgbClr val="5E6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агент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0" y="2788920"/>
            <a:ext cx="1325880" cy="347472"/>
          </a:xfrm>
          <a:prstGeom prst="roundRect">
            <a:avLst>
              <a:gd name="adj" fmla="val 20000"/>
            </a:avLst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24612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8B5A4A"/>
                </a:solidFill>
                <a:latin typeface="Calibri"/>
              </a:rPr>
              <a:t>выхода в Space Planner нет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1188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2B3642"/>
                </a:solidFill>
                <a:latin typeface="Calibri"/>
              </a:rPr>
              <a:t>▸  результат в 1С, не в SP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2B3642"/>
                </a:solidFill>
                <a:latin typeface="Calibri"/>
              </a:rPr>
              <a:t>▸  логистические меры ≠ WxHxD facing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5029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sng">
                <a:solidFill>
                  <a:srgbClr val="4A6B7C"/>
                </a:solidFill>
                <a:latin typeface="Calibri"/>
                <a:hlinkClick r:id="rId3"/>
              </a:rPr>
              <a:t>https://infostart.ru/marketplace/2667216/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754880"/>
            <a:ext cx="4754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3A5466"/>
                </a:solidFill>
                <a:latin typeface="Calibri"/>
              </a:rPr>
              <a:t>48 800 ₽ / мес + пакеты запросов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656832"/>
            <a:ext cx="9144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FFFFFF"/>
                </a:solidFill>
                <a:latin typeface="Calibri"/>
              </a:rPr>
              <a:t>Ласмарт  ·  Товаровед  ·  карта конкурентов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656832"/>
            <a:ext cx="11887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5E6F64"/>
                </a:solidFill>
                <a:latin typeface="Calibri"/>
              </a:rPr>
              <a:t>ГРУППА 02  ·  ПОХОЖИЕ СЛОВА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2B3642"/>
                </a:solidFill>
                <a:latin typeface="Calibri"/>
              </a:rPr>
              <a:t>PIM и маркетплейсы — не полка магазина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>
                <a:solidFill>
                  <a:srgbClr val="5C6772"/>
                </a:solidFill>
                <a:latin typeface="Calibri"/>
              </a:rPr>
              <a:t>Совпадают слова «карточка», «атрибуты», «полка». Не совпадает работа: единица выкладки в мм для планограммы.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3611880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3611880" cy="73152"/>
          </a:xfrm>
          <a:prstGeom prst="rect">
            <a:avLst/>
          </a:prstGeom>
          <a:solidFill>
            <a:srgbClr val="5E6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5E6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64208"/>
            <a:ext cx="3063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5E6F64"/>
                </a:solidFill>
                <a:latin typeface="Calibri"/>
              </a:rPr>
              <a:t>OMS WB / OZON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3063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>
                <a:solidFill>
                  <a:srgbClr val="2B3642"/>
                </a:solidFill>
                <a:latin typeface="Calibri"/>
              </a:rPr>
              <a:t>SelSup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14600"/>
            <a:ext cx="1371600" cy="777240"/>
          </a:xfrm>
          <a:prstGeom prst="roundRect">
            <a:avLst>
              <a:gd name="adj" fmla="val 10000"/>
            </a:avLst>
          </a:prstGeom>
          <a:solidFill>
            <a:srgbClr val="E8E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5C6772"/>
                </a:solidFill>
                <a:latin typeface="Calibri"/>
              </a:rPr>
              <a:t>сайт / MP
контент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2514600"/>
            <a:ext cx="1371600" cy="777240"/>
          </a:xfrm>
          <a:prstGeom prst="roundRect">
            <a:avLst>
              <a:gd name="adj" fmla="val 10000"/>
            </a:avLst>
          </a:prstGeom>
          <a:solidFill>
            <a:srgbClr val="EBE4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8B5A4A"/>
                </a:solidFill>
                <a:latin typeface="Calibri"/>
              </a:rPr>
              <a:t>полка мм
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74720"/>
            <a:ext cx="3063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3642"/>
                </a:solidFill>
                <a:latin typeface="Calibri"/>
              </a:rPr>
              <a:t>Формализатор разбирает уже существующий текст. Габариты = транспортная упаковка, не facing.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3A5466"/>
                </a:solidFill>
                <a:latin typeface="Calibri"/>
              </a:rPr>
              <a:t>не в сделках 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4068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sng">
                <a:solidFill>
                  <a:srgbClr val="4A6B7C"/>
                </a:solidFill>
                <a:latin typeface="Calibri"/>
                <a:hlinkClick r:id="rId2"/>
              </a:rPr>
              <a:t>https://selsup.ru/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1417320"/>
            <a:ext cx="3611880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1417320"/>
            <a:ext cx="3611880" cy="73152"/>
          </a:xfrm>
          <a:prstGeom prst="rect">
            <a:avLst/>
          </a:prstGeom>
          <a:solidFill>
            <a:srgbClr val="8A7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26280" y="1645920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8A7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1664208"/>
            <a:ext cx="3063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8A7358"/>
                </a:solidFill>
                <a:latin typeface="Calibri"/>
              </a:rPr>
              <a:t>PIM / DIGITAL SHELF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1965960"/>
            <a:ext cx="3063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>
                <a:solidFill>
                  <a:srgbClr val="2B3642"/>
                </a:solidFill>
                <a:latin typeface="Calibri"/>
              </a:rPr>
              <a:t>BrandQuad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26280" y="2514600"/>
            <a:ext cx="1371600" cy="777240"/>
          </a:xfrm>
          <a:prstGeom prst="roundRect">
            <a:avLst>
              <a:gd name="adj" fmla="val 10000"/>
            </a:avLst>
          </a:prstGeom>
          <a:solidFill>
            <a:srgbClr val="E8E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5C6772"/>
                </a:solidFill>
                <a:latin typeface="Calibri"/>
              </a:rPr>
              <a:t>сайт / MP
контент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514600"/>
            <a:ext cx="1371600" cy="777240"/>
          </a:xfrm>
          <a:prstGeom prst="roundRect">
            <a:avLst>
              <a:gd name="adj" fmla="val 10000"/>
            </a:avLst>
          </a:prstGeom>
          <a:solidFill>
            <a:srgbClr val="EBE4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8B5A4A"/>
                </a:solidFill>
                <a:latin typeface="Calibri"/>
              </a:rPr>
              <a:t>полка мм
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474720"/>
            <a:ext cx="3063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3642"/>
                </a:solidFill>
                <a:latin typeface="Calibri"/>
              </a:rPr>
              <a:t>Контент для сайта и ритейл-медиа. Слово «полка» — digital shelf. Риск путаницы в разговоре.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98348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3A5466"/>
                </a:solidFill>
                <a:latin typeface="Calibri"/>
              </a:rPr>
              <a:t>~360,9 млн ₽  · 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44068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sng">
                <a:solidFill>
                  <a:srgbClr val="4A6B7C"/>
                </a:solidFill>
                <a:latin typeface="Calibri"/>
                <a:hlinkClick r:id="rId3"/>
              </a:rPr>
              <a:t>https://brandquad.ru/products/pim-systema/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1417320"/>
            <a:ext cx="3611880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1417320"/>
            <a:ext cx="3611880" cy="73152"/>
          </a:xfrm>
          <a:prstGeom prst="rect">
            <a:avLst/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21040" y="1645920"/>
            <a:ext cx="384048" cy="384048"/>
          </a:xfrm>
          <a:prstGeom prst="roundRect">
            <a:avLst>
              <a:gd name="adj" fmla="val 15000"/>
            </a:avLst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1664208"/>
            <a:ext cx="3063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3A5466"/>
                </a:solidFill>
                <a:latin typeface="Calibri"/>
              </a:rPr>
              <a:t>PIM-ПЛАТФОРМА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1965960"/>
            <a:ext cx="3063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>
                <a:solidFill>
                  <a:srgbClr val="2B3642"/>
                </a:solidFill>
                <a:latin typeface="Calibri"/>
              </a:rPr>
              <a:t>Compo PIM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2514600"/>
            <a:ext cx="1371600" cy="777240"/>
          </a:xfrm>
          <a:prstGeom prst="roundRect">
            <a:avLst>
              <a:gd name="adj" fmla="val 10000"/>
            </a:avLst>
          </a:prstGeom>
          <a:solidFill>
            <a:srgbClr val="E8E4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5C6772"/>
                </a:solidFill>
                <a:latin typeface="Calibri"/>
              </a:rPr>
              <a:t>сайт / MP
контент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66960" y="2514600"/>
            <a:ext cx="1371600" cy="777240"/>
          </a:xfrm>
          <a:prstGeom prst="roundRect">
            <a:avLst>
              <a:gd name="adj" fmla="val 10000"/>
            </a:avLst>
          </a:prstGeom>
          <a:solidFill>
            <a:srgbClr val="EBE4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i="0">
                <a:solidFill>
                  <a:srgbClr val="8B5A4A"/>
                </a:solidFill>
                <a:latin typeface="Calibri"/>
              </a:rPr>
              <a:t>полка мм
нет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3474720"/>
            <a:ext cx="30632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3642"/>
                </a:solidFill>
                <a:latin typeface="Calibri"/>
              </a:rPr>
              <a:t>Управление контентом товара. Не паспорт полки и не загрузка в Space Planner.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498348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3A5466"/>
                </a:solidFill>
                <a:latin typeface="Calibri"/>
              </a:rPr>
              <a:t>~110 млн ₽  ·  вся компания, 2025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5440680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sng">
                <a:solidFill>
                  <a:srgbClr val="4A6B7C"/>
                </a:solidFill>
                <a:latin typeface="Calibri"/>
                <a:hlinkClick r:id="rId4"/>
              </a:rPr>
              <a:t>https://www.compo.ru/products/pim/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56832"/>
            <a:ext cx="9144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FFFFFF"/>
                </a:solidFill>
                <a:latin typeface="Calibri"/>
              </a:rPr>
              <a:t>Ласмарт  ·  Товаровед  ·  карта конкурентов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656832"/>
            <a:ext cx="11887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5E6F64"/>
                </a:solidFill>
                <a:latin typeface="Calibri"/>
              </a:rPr>
              <a:t>ГРУППА 03  ·  ТОТ ЖЕ РЕЗУЛЬТАТ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2B3642"/>
                </a:solidFill>
                <a:latin typeface="Calibri"/>
              </a:rPr>
              <a:t>Габариты для выкладки — другим путём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>
                <a:solidFill>
                  <a:srgbClr val="5C6772"/>
                </a:solidFill>
                <a:latin typeface="Calibri"/>
              </a:rPr>
              <a:t>Нужны WxHxD и фото facing. Добывают лабораторией, своей базой или внутри своего планограммера — не ИИ-агентом в SP.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89888"/>
            <a:ext cx="5440680" cy="23042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91440" cy="2304288"/>
          </a:xfrm>
          <a:prstGeom prst="rect">
            <a:avLst/>
          </a:prstGeom>
          <a:solidFill>
            <a:srgbClr val="8B5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645920"/>
            <a:ext cx="438912" cy="438912"/>
          </a:xfrm>
          <a:prstGeom prst="ellipse">
            <a:avLst/>
          </a:prstGeom>
          <a:solidFill>
            <a:srgbClr val="8B5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3312" y="1591056"/>
            <a:ext cx="4206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2B3642"/>
                </a:solidFill>
                <a:latin typeface="Calibri"/>
              </a:rPr>
              <a:t>Listex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1865376"/>
            <a:ext cx="4206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8B5A4A"/>
                </a:solidFill>
                <a:latin typeface="Calibri"/>
              </a:rPr>
              <a:t>физическая лаборатория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58568"/>
            <a:ext cx="4800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3642"/>
                </a:solidFill>
                <a:latin typeface="Calibri"/>
              </a:rPr>
              <a:t>Cubiscan + съёмка, дни на партию. API в ABM / PlanoHero.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27248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sng">
                <a:solidFill>
                  <a:srgbClr val="4A6B7C"/>
                </a:solidFill>
                <a:latin typeface="Calibri"/>
                <a:hlinkClick r:id="rId2"/>
              </a:rPr>
              <a:t>https://listex.info/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89888"/>
            <a:ext cx="5440680" cy="23042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389888"/>
            <a:ext cx="91440" cy="2304288"/>
          </a:xfrm>
          <a:prstGeom prst="rect">
            <a:avLst/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1645920"/>
            <a:ext cx="438912" cy="438912"/>
          </a:xfrm>
          <a:prstGeom prst="ellipse">
            <a:avLst/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9752" y="1591056"/>
            <a:ext cx="4206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2B3642"/>
                </a:solidFill>
                <a:latin typeface="Calibri"/>
              </a:rPr>
              <a:t>Astor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9752" y="1865376"/>
            <a:ext cx="4206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3A5466"/>
                </a:solidFill>
                <a:latin typeface="Calibri"/>
              </a:rPr>
              <a:t>планограммы + своя БД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258568"/>
            <a:ext cx="4800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3642"/>
                </a:solidFill>
                <a:latin typeface="Calibri"/>
              </a:rPr>
              <a:t>Конкурент SP. База габаритов клиентов; качество слабое (по продажам SP).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127248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sng">
                <a:solidFill>
                  <a:srgbClr val="4A6B7C"/>
                </a:solidFill>
                <a:latin typeface="Calibri"/>
                <a:hlinkClick r:id="rId3"/>
              </a:rPr>
              <a:t>https://astorsoft.ru/products/rs-shelfspace/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858768"/>
            <a:ext cx="5440680" cy="23042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858768"/>
            <a:ext cx="91440" cy="2304288"/>
          </a:xfrm>
          <a:prstGeom prst="rect">
            <a:avLst/>
          </a:prstGeom>
          <a:solidFill>
            <a:srgbClr val="5E6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4114800"/>
            <a:ext cx="438912" cy="438912"/>
          </a:xfrm>
          <a:prstGeom prst="ellipse">
            <a:avLst/>
          </a:prstGeom>
          <a:solidFill>
            <a:srgbClr val="5E6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3312" y="4059936"/>
            <a:ext cx="4206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2B3642"/>
                </a:solidFill>
                <a:latin typeface="Calibri"/>
              </a:rPr>
              <a:t>ABM Shelf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4334256"/>
            <a:ext cx="4206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5E6F64"/>
                </a:solidFill>
                <a:latin typeface="Calibri"/>
              </a:rPr>
              <a:t>процесс выкладки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727448"/>
            <a:ext cx="4800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3642"/>
                </a:solidFill>
                <a:latin typeface="Calibri"/>
              </a:rPr>
              <a:t>Габариты из rollout или Listex. Не отдельный ИИ-заполнитель карточки.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596128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sng">
                <a:solidFill>
                  <a:srgbClr val="4A6B7C"/>
                </a:solidFill>
                <a:latin typeface="Calibri"/>
                <a:hlinkClick r:id="rId4"/>
              </a:rPr>
              <a:t>https://abmcloud.com/abm-soft/abm-shelf/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858768"/>
            <a:ext cx="5440680" cy="23042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3858768"/>
            <a:ext cx="91440" cy="2304288"/>
          </a:xfrm>
          <a:prstGeom prst="rect">
            <a:avLst/>
          </a:prstGeom>
          <a:solidFill>
            <a:srgbClr val="8A7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83680" y="4114800"/>
            <a:ext cx="438912" cy="438912"/>
          </a:xfrm>
          <a:prstGeom prst="ellipse">
            <a:avLst/>
          </a:prstGeom>
          <a:solidFill>
            <a:srgbClr val="8A7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9752" y="4059936"/>
            <a:ext cx="4206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2B3642"/>
                </a:solidFill>
                <a:latin typeface="Calibri"/>
              </a:rPr>
              <a:t>PlanoHero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59752" y="4334256"/>
            <a:ext cx="4206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8A7358"/>
                </a:solidFill>
                <a:latin typeface="Calibri"/>
              </a:rPr>
              <a:t>класс Space Planner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727448"/>
            <a:ext cx="4800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2B3642"/>
                </a:solidFill>
                <a:latin typeface="Calibri"/>
              </a:rPr>
              <a:t>Часто берёт фото и WHD у Listex. Lite $199 / мес.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596128"/>
            <a:ext cx="4800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u="sng">
                <a:solidFill>
                  <a:srgbClr val="4A6B7C"/>
                </a:solidFill>
                <a:latin typeface="Calibri"/>
                <a:hlinkClick r:id="rId5"/>
              </a:rPr>
              <a:t>https://planohero.com/ru/create-planograms/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656832"/>
            <a:ext cx="9144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FFFFFF"/>
                </a:solidFill>
                <a:latin typeface="Calibri"/>
              </a:rPr>
              <a:t>Ласмарт  ·  Товаровед  ·  карта конкурентов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656832"/>
            <a:ext cx="11887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5E6F64"/>
                </a:solidFill>
                <a:latin typeface="Calibri"/>
              </a:rPr>
              <a:t>ВЫВОД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20624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2B3642"/>
                </a:solidFill>
                <a:latin typeface="Calibri"/>
              </a:rPr>
              <a:t>Поля пересекаются. Карточки для выкладки — нет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>
                <a:solidFill>
                  <a:srgbClr val="5C6772"/>
                </a:solidFill>
                <a:latin typeface="Calibri"/>
              </a:rPr>
              <a:t>Никто из групп 1–2 не готовит паспорт полки. Группа 3 получает WxHxD иначе — лабораторией или своим стеком планограмм.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361188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11680" y="1664208"/>
            <a:ext cx="502920" cy="502920"/>
          </a:xfrm>
          <a:prstGeom prst="ellipse">
            <a:avLst/>
          </a:prstGeom>
          <a:solidFill>
            <a:srgbClr val="5E6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1737360"/>
            <a:ext cx="502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>
                <a:solidFill>
                  <a:srgbClr val="2B3642"/>
                </a:solidFill>
                <a:latin typeface="Calibri"/>
              </a:rPr>
              <a:t>Патчи 1С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97480"/>
            <a:ext cx="3154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C6772"/>
                </a:solidFill>
                <a:latin typeface="Calibri"/>
              </a:rPr>
              <a:t>карточка в учёте
не facing, не SP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463040"/>
            <a:ext cx="361188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806440" y="1664208"/>
            <a:ext cx="502920" cy="502920"/>
          </a:xfrm>
          <a:prstGeom prst="ellipse">
            <a:avLst/>
          </a:prstGeom>
          <a:solidFill>
            <a:srgbClr val="8A7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1737360"/>
            <a:ext cx="502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286000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>
                <a:solidFill>
                  <a:srgbClr val="2B3642"/>
                </a:solidFill>
                <a:latin typeface="Calibri"/>
              </a:rPr>
              <a:t>PIM / MP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697480"/>
            <a:ext cx="3154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C6772"/>
                </a:solidFill>
                <a:latin typeface="Calibri"/>
              </a:rPr>
              <a:t>контент и отгрузки
не единица выкладки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463040"/>
            <a:ext cx="361188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200" y="1664208"/>
            <a:ext cx="502920" cy="502920"/>
          </a:xfrm>
          <a:prstGeom prst="ellipse">
            <a:avLst/>
          </a:prstGeom>
          <a:solidFill>
            <a:srgbClr val="8B5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0" y="1737360"/>
            <a:ext cx="502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286000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>
                <a:solidFill>
                  <a:srgbClr val="2B3642"/>
                </a:solidFill>
                <a:latin typeface="Calibri"/>
              </a:rPr>
              <a:t>Лаб / свой SP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97480"/>
            <a:ext cx="3154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C6772"/>
                </a:solidFill>
                <a:latin typeface="Calibri"/>
              </a:rPr>
              <a:t>габариты есть
другой метод и канал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97680"/>
            <a:ext cx="1124712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0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297680"/>
            <a:ext cx="109728" cy="1965960"/>
          </a:xfrm>
          <a:prstGeom prst="rect">
            <a:avLst/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4805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3A5466"/>
                </a:solidFill>
                <a:latin typeface="Calibri"/>
              </a:rPr>
              <a:t>Товаровед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2B3642"/>
                </a:solidFill>
                <a:latin typeface="Calibri"/>
              </a:rPr>
              <a:t>Карточка, с которой можно собрать качественную планограмму: WxHxD единицы выкладки, фото facing, штрихкод, атрибуты — и загрузка в Space Planner.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5C6772"/>
                </a:solidFill>
                <a:latin typeface="Calibri"/>
              </a:rPr>
              <a:t>SP — канал. Задача — паспорт полки, не «почистить весь 1С».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3A5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656832"/>
            <a:ext cx="91440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>
                <a:solidFill>
                  <a:srgbClr val="FFFFFF"/>
                </a:solidFill>
                <a:latin typeface="Calibri"/>
              </a:rPr>
              <a:t>Ласмарт  ·  Товаровед  ·  карта конкурентов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656832"/>
            <a:ext cx="11887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